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3" r:id="rId5"/>
    <p:sldId id="264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8" r:id="rId16"/>
    <p:sldId id="277" r:id="rId17"/>
    <p:sldId id="279" r:id="rId18"/>
    <p:sldId id="280" r:id="rId19"/>
    <p:sldId id="281" r:id="rId20"/>
    <p:sldId id="282" r:id="rId21"/>
    <p:sldId id="284" r:id="rId22"/>
    <p:sldId id="285" r:id="rId23"/>
    <p:sldId id="283" r:id="rId24"/>
    <p:sldId id="290" r:id="rId25"/>
    <p:sldId id="289" r:id="rId26"/>
    <p:sldId id="286" r:id="rId27"/>
    <p:sldId id="287" r:id="rId28"/>
    <p:sldId id="288" r:id="rId2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8F8F8"/>
    <a:srgbClr val="A3FFFF"/>
    <a:srgbClr val="CCFFFF"/>
    <a:srgbClr val="66FFFF"/>
    <a:srgbClr val="8B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2" autoAdjust="0"/>
  </p:normalViewPr>
  <p:slideViewPr>
    <p:cSldViewPr snapToGrid="0">
      <p:cViewPr>
        <p:scale>
          <a:sx n="59" d="100"/>
          <a:sy n="59" d="100"/>
        </p:scale>
        <p:origin x="1866" y="12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4EC733-C7B0-A298-BFBC-DFDE74ABC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04D1083-9C32-ED66-A2BE-191BA0F84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2B1428-51CD-75D4-0A2F-7E9C40F54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D78-A883-4E90-82FC-268462053A40}" type="datetimeFigureOut">
              <a:rPr kumimoji="1" lang="ja-JP" altLang="en-US" smtClean="0"/>
              <a:t>2026/2/8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8F568A-584E-49C9-C76E-5AAC358A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7E02F5-1013-D434-C6DD-22A7961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7316-4F8E-4AC6-9DFC-C8D56F8872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3028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439599-C60D-C1DC-6402-7AF0DC035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2B57ED-FFE2-4C33-1614-8899476C0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8C1E4D-11CE-6293-8A4B-39684A591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D78-A883-4E90-82FC-268462053A40}" type="datetimeFigureOut">
              <a:rPr kumimoji="1" lang="ja-JP" altLang="en-US" smtClean="0"/>
              <a:t>2026/2/8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BE88A4-43B1-93FA-DF94-6AF5E73E1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C5C34D-CE78-C49E-060A-1E1C2B45B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7316-4F8E-4AC6-9DFC-C8D56F8872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7300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C5B0DB-D8EA-C9E7-AA59-E79EE0C9C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8F7B97-0582-1A0A-9892-6CA0479FE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0CE80E-A078-AF6F-4422-5C7B803B0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D78-A883-4E90-82FC-268462053A40}" type="datetimeFigureOut">
              <a:rPr kumimoji="1" lang="ja-JP" altLang="en-US" smtClean="0"/>
              <a:t>2026/2/8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7D0B9D-CBA1-0D05-AFBB-0B9E1749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09D8A8-05D0-0E3C-1D06-549B83D4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7316-4F8E-4AC6-9DFC-C8D56F8872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2950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43C186-3911-947F-DF55-0052EFCAC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CF9947-D6A0-BA87-17F7-80BF6CCC31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AB82D3-5BE4-4935-4840-D5559CE73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820F9E-ADEB-44AA-DE6E-BC2085B2D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D78-A883-4E90-82FC-268462053A40}" type="datetimeFigureOut">
              <a:rPr kumimoji="1" lang="ja-JP" altLang="en-US" smtClean="0"/>
              <a:t>2026/2/8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F4950A-A6E7-36AD-49F5-87A7E4E05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8573F7-3CFA-F63E-BE3F-55D716FE4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7316-4F8E-4AC6-9DFC-C8D56F8872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1347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7BEB7C-16B0-50E8-884F-27BDEA90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77BC99-7443-887C-D173-F8127998E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1B92C33-83AB-845D-1BA0-122E785FC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F0CF62D-A047-A2C9-09EB-087A4011B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925C7A5-1730-8B43-1941-62EBA03B3B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33F6CFF-2344-9CDF-D0B9-1BC6C747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D78-A883-4E90-82FC-268462053A40}" type="datetimeFigureOut">
              <a:rPr kumimoji="1" lang="ja-JP" altLang="en-US" smtClean="0"/>
              <a:t>2026/2/8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673F7EA-2D04-45A5-8580-DB9933596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D8E499A-CD1A-6A4C-A5AA-144E9F45A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7316-4F8E-4AC6-9DFC-C8D56F8872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1602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12E003-DAE2-579D-9233-281F7E9FF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277F464-3EBC-4431-FB44-7C0431B85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D78-A883-4E90-82FC-268462053A40}" type="datetimeFigureOut">
              <a:rPr kumimoji="1" lang="ja-JP" altLang="en-US" smtClean="0"/>
              <a:t>2026/2/8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A5E6FC2-A24F-86C6-F7C3-71243372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6A68F80-8032-35D0-7285-1170134B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7316-4F8E-4AC6-9DFC-C8D56F8872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789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7C8DBFA-3B88-3CEA-E20A-E54BD4C0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D78-A883-4E90-82FC-268462053A40}" type="datetimeFigureOut">
              <a:rPr kumimoji="1" lang="ja-JP" altLang="en-US" smtClean="0"/>
              <a:t>2026/2/8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9DD3F69-F161-33BC-641A-801F740D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2173B2-6E15-2FF3-F89F-138ADF16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7316-4F8E-4AC6-9DFC-C8D56F8872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465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EA306C-2ED7-4BF3-0AF2-8B6B0CBE8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D009BF-8B5B-EC13-FEAC-333329787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E51151-D8BE-27F0-6BF2-528C54B81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186E11-D7DB-987B-339B-FCE103F94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D78-A883-4E90-82FC-268462053A40}" type="datetimeFigureOut">
              <a:rPr kumimoji="1" lang="ja-JP" altLang="en-US" smtClean="0"/>
              <a:t>2026/2/8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5A3902-11C1-1D29-902D-52226794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148374-3A62-8C50-981F-338DC5D7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7316-4F8E-4AC6-9DFC-C8D56F8872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2892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75B36C-0C0A-83A6-681B-A45726BF9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BDB5D17-40ED-9197-FFF6-76E2AE56F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BCCE699-EBA9-689F-50EC-82BA529FB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95A202-0230-85C5-6233-9970CA000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D78-A883-4E90-82FC-268462053A40}" type="datetimeFigureOut">
              <a:rPr kumimoji="1" lang="ja-JP" altLang="en-US" smtClean="0"/>
              <a:t>2026/2/8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1FF348-14F5-AA57-3FD6-E2D3A277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F130182-FCF9-2A7D-63F9-4E1EF37FA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7316-4F8E-4AC6-9DFC-C8D56F8872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28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98F123-0863-DEB0-81AB-65043D334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654701-29FA-F0A8-F561-4D09F1399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25429B-2BB0-D0CC-99BC-2EDA6B3F6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D78-A883-4E90-82FC-268462053A40}" type="datetimeFigureOut">
              <a:rPr kumimoji="1" lang="ja-JP" altLang="en-US" smtClean="0"/>
              <a:t>2026/2/8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343DD1-68C4-BA4A-8617-269BF8E92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50FC04-52C9-58C3-358B-1135C4957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7316-4F8E-4AC6-9DFC-C8D56F8872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3786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E5E67B6-F9AA-AF38-F75A-E559F3493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4B8CA0-8552-F955-DF71-A047F04F5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54FE3-981D-012B-B522-E1B59AF84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D78-A883-4E90-82FC-268462053A40}" type="datetimeFigureOut">
              <a:rPr kumimoji="1" lang="ja-JP" altLang="en-US" smtClean="0"/>
              <a:t>2026/2/8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A9C442-1C54-05F8-631F-D5E1277F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C4F971-5CE0-EB62-C7D9-036827FD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7316-4F8E-4AC6-9DFC-C8D56F8872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8251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7A233F1-FE80-DF02-AB4D-3F5098378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F323FE-3096-7267-EEED-4C828311D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2BE094-15CE-2CE1-B58B-C4D633835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045D78-A883-4E90-82FC-268462053A40}" type="datetimeFigureOut">
              <a:rPr kumimoji="1" lang="ja-JP" altLang="en-US" smtClean="0"/>
              <a:t>2026/2/8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899736-9BA6-522B-FD1D-C9B6F69C5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0C0D3F-3043-7E08-B2E7-5FF0D024A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DB7316-4F8E-4AC6-9DFC-C8D56F8872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7285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418338-AA2B-D52D-2692-B46280262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10239"/>
            <a:ext cx="9144000" cy="1480930"/>
          </a:xfrm>
        </p:spPr>
        <p:txBody>
          <a:bodyPr>
            <a:normAutofit/>
          </a:bodyPr>
          <a:lstStyle/>
          <a:p>
            <a:r>
              <a:rPr kumimoji="1" lang="en-US" altLang="ja-JP" sz="9600" dirty="0">
                <a:solidFill>
                  <a:schemeClr val="bg1"/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WHYAI</a:t>
            </a:r>
            <a:endParaRPr kumimoji="1" lang="ja-JP" altLang="en-US" sz="9600" dirty="0">
              <a:solidFill>
                <a:schemeClr val="bg1"/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5BF73A6-5F24-F4B9-DEC8-F8A205F6B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51831"/>
            <a:ext cx="9144000" cy="446842"/>
          </a:xfrm>
        </p:spPr>
        <p:txBody>
          <a:bodyPr>
            <a:norm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「考えて学ぶ」エンジニア学習サービス</a:t>
            </a:r>
            <a:endParaRPr kumimoji="1" lang="ja-JP" altLang="en-US" dirty="0">
              <a:solidFill>
                <a:schemeClr val="bg1"/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1020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50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F34E9-2596-224C-E9DC-6FACAFCB7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61DA68-578C-5B04-BA77-4DF707012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10239"/>
            <a:ext cx="9144000" cy="1480930"/>
          </a:xfrm>
        </p:spPr>
        <p:txBody>
          <a:bodyPr>
            <a:normAutofit/>
          </a:bodyPr>
          <a:lstStyle/>
          <a:p>
            <a:r>
              <a:rPr kumimoji="1" lang="en-US" altLang="ja-JP" sz="96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WHYAI</a:t>
            </a:r>
            <a:endParaRPr kumimoji="1" lang="ja-JP" altLang="en-US" sz="96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E3DE255-38CA-6C2F-09A2-8CFD7DB84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51831"/>
            <a:ext cx="9144000" cy="446842"/>
          </a:xfrm>
        </p:spPr>
        <p:txBody>
          <a:bodyPr>
            <a:normAutofit/>
          </a:bodyPr>
          <a:lstStyle/>
          <a:p>
            <a:r>
              <a:rPr lang="ja-JP" altLang="en-US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「考えて学ぶ」エンジニア学習サービス</a:t>
            </a:r>
            <a:endParaRPr kumimoji="1" lang="ja-JP" altLang="en-US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310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7D7C1-3D22-0742-6091-4A133E36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98984F-C137-A754-EB03-5407D98CF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5550" y="2395331"/>
            <a:ext cx="6860899" cy="2067338"/>
          </a:xfrm>
        </p:spPr>
        <p:txBody>
          <a:bodyPr anchor="ctr" anchorCtr="0">
            <a:normAutofit fontScale="90000"/>
          </a:bodyPr>
          <a:lstStyle/>
          <a:p>
            <a:r>
              <a:rPr lang="ja-JP" altLang="en-US" sz="40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コンピューターに</a:t>
            </a:r>
            <a:br>
              <a:rPr lang="en-US" altLang="ja-JP" sz="40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</a:br>
            <a:r>
              <a:rPr lang="ja-JP" altLang="en-US" sz="40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「何を、どの順番で行うか」</a:t>
            </a:r>
            <a:br>
              <a:rPr lang="en-US" altLang="ja-JP" sz="40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</a:br>
            <a:r>
              <a:rPr lang="ja-JP" altLang="en-US" sz="40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を指示し、処理を行わせる作業</a:t>
            </a:r>
            <a:endParaRPr kumimoji="1" lang="ja-JP" altLang="en-US" sz="40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2722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6F799-36AB-4FC8-9E98-18F4602CE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BD01D9-616F-0645-682E-3005BEC4A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5550" y="2395331"/>
            <a:ext cx="6860899" cy="2067338"/>
          </a:xfrm>
        </p:spPr>
        <p:txBody>
          <a:bodyPr anchor="ctr" anchorCtr="0">
            <a:normAutofit fontScale="90000"/>
          </a:bodyPr>
          <a:lstStyle/>
          <a:p>
            <a:r>
              <a:rPr lang="ja-JP" altLang="en-US" sz="4000" dirty="0">
                <a:solidFill>
                  <a:schemeClr val="bg2">
                    <a:lumMod val="90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コンピューターに</a:t>
            </a:r>
            <a:br>
              <a:rPr lang="en-US" altLang="ja-JP" sz="4000" dirty="0">
                <a:solidFill>
                  <a:schemeClr val="bg2">
                    <a:lumMod val="90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</a:br>
            <a:r>
              <a:rPr lang="ja-JP" altLang="en-US" sz="4000" dirty="0">
                <a:solidFill>
                  <a:schemeClr val="bg2">
                    <a:lumMod val="90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「何を、どの順番で行うか」</a:t>
            </a:r>
            <a:br>
              <a:rPr lang="en-US" altLang="ja-JP" sz="4000" dirty="0">
                <a:solidFill>
                  <a:schemeClr val="bg2">
                    <a:lumMod val="90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</a:br>
            <a:r>
              <a:rPr lang="ja-JP" altLang="en-US" sz="4000" dirty="0">
                <a:solidFill>
                  <a:schemeClr val="bg2">
                    <a:lumMod val="90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を指示し、処理を行わせる作業</a:t>
            </a:r>
            <a:endParaRPr kumimoji="1" lang="ja-JP" altLang="en-US" sz="4000" dirty="0">
              <a:solidFill>
                <a:schemeClr val="bg2">
                  <a:lumMod val="90000"/>
                </a:schemeClr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738A26F8-25F5-06CB-BF2E-51A76EE83BB8}"/>
              </a:ext>
            </a:extLst>
          </p:cNvPr>
          <p:cNvSpPr txBox="1">
            <a:spLocks/>
          </p:cNvSpPr>
          <p:nvPr/>
        </p:nvSpPr>
        <p:spPr>
          <a:xfrm>
            <a:off x="2665550" y="2395331"/>
            <a:ext cx="6860899" cy="206733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66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プログラミング</a:t>
            </a:r>
          </a:p>
        </p:txBody>
      </p:sp>
    </p:spTree>
    <p:extLst>
      <p:ext uri="{BB962C8B-B14F-4D97-AF65-F5344CB8AC3E}">
        <p14:creationId xmlns:p14="http://schemas.microsoft.com/office/powerpoint/2010/main" val="4043373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3847C4-9EEE-627D-FDD1-C168A38E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3AE147C6-C957-545E-71D5-DE668E0AFBDD}"/>
              </a:ext>
            </a:extLst>
          </p:cNvPr>
          <p:cNvSpPr txBox="1">
            <a:spLocks/>
          </p:cNvSpPr>
          <p:nvPr/>
        </p:nvSpPr>
        <p:spPr>
          <a:xfrm>
            <a:off x="2665550" y="2395331"/>
            <a:ext cx="6860899" cy="206733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プログラミング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4AD63190-292A-568E-9490-0F462DBBC8D9}"/>
              </a:ext>
            </a:extLst>
          </p:cNvPr>
          <p:cNvSpPr txBox="1">
            <a:spLocks/>
          </p:cNvSpPr>
          <p:nvPr/>
        </p:nvSpPr>
        <p:spPr>
          <a:xfrm>
            <a:off x="2227296" y="1838739"/>
            <a:ext cx="7737405" cy="318052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5400" dirty="0">
                <a:solidFill>
                  <a:schemeClr val="bg1"/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失敗</a:t>
            </a:r>
          </a:p>
        </p:txBody>
      </p:sp>
    </p:spTree>
    <p:extLst>
      <p:ext uri="{BB962C8B-B14F-4D97-AF65-F5344CB8AC3E}">
        <p14:creationId xmlns:p14="http://schemas.microsoft.com/office/powerpoint/2010/main" val="4018886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F741B-DCDC-4C42-0C70-614BE07C0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E1BED91C-4048-C904-A5B2-142B45C0C726}"/>
              </a:ext>
            </a:extLst>
          </p:cNvPr>
          <p:cNvSpPr txBox="1">
            <a:spLocks/>
          </p:cNvSpPr>
          <p:nvPr/>
        </p:nvSpPr>
        <p:spPr>
          <a:xfrm>
            <a:off x="1305339" y="2395331"/>
            <a:ext cx="9581322" cy="206733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66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プログラミング学習</a:t>
            </a:r>
            <a:endParaRPr lang="en-US" altLang="ja-JP" sz="66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0749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E4C3CD-5E83-FE5D-287C-87A709725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A0671F-CA95-F89C-8480-8A72CF5CCA82}"/>
              </a:ext>
            </a:extLst>
          </p:cNvPr>
          <p:cNvSpPr txBox="1">
            <a:spLocks/>
          </p:cNvSpPr>
          <p:nvPr/>
        </p:nvSpPr>
        <p:spPr>
          <a:xfrm>
            <a:off x="6587906" y="1946237"/>
            <a:ext cx="4310130" cy="451535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39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壁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6ECC1CDC-031D-CE76-C1BB-5B7360CD6A4E}"/>
              </a:ext>
            </a:extLst>
          </p:cNvPr>
          <p:cNvSpPr txBox="1">
            <a:spLocks/>
          </p:cNvSpPr>
          <p:nvPr/>
        </p:nvSpPr>
        <p:spPr>
          <a:xfrm>
            <a:off x="353804" y="1867367"/>
            <a:ext cx="6461626" cy="312326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はじめの一歩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F80978E7-73DE-C5C8-D579-DA752D28636D}"/>
              </a:ext>
            </a:extLst>
          </p:cNvPr>
          <p:cNvSpPr txBox="1">
            <a:spLocks/>
          </p:cNvSpPr>
          <p:nvPr/>
        </p:nvSpPr>
        <p:spPr>
          <a:xfrm>
            <a:off x="5512158" y="2769996"/>
            <a:ext cx="1957948" cy="131800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=</a:t>
            </a:r>
            <a:endParaRPr lang="ja-JP" altLang="en-US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20CCF2B4-A6DD-B0CA-DB98-4790F7AD790C}"/>
              </a:ext>
            </a:extLst>
          </p:cNvPr>
          <p:cNvSpPr txBox="1">
            <a:spLocks/>
          </p:cNvSpPr>
          <p:nvPr/>
        </p:nvSpPr>
        <p:spPr>
          <a:xfrm>
            <a:off x="6774287" y="1324726"/>
            <a:ext cx="3937367" cy="157406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7200" dirty="0">
                <a:solidFill>
                  <a:srgbClr val="FF0000"/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最大</a:t>
            </a:r>
            <a:r>
              <a:rPr lang="ja-JP" altLang="en-US" sz="72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の</a:t>
            </a:r>
          </a:p>
        </p:txBody>
      </p:sp>
    </p:spTree>
    <p:extLst>
      <p:ext uri="{BB962C8B-B14F-4D97-AF65-F5344CB8AC3E}">
        <p14:creationId xmlns:p14="http://schemas.microsoft.com/office/powerpoint/2010/main" val="216116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0307F2-6041-A51F-A518-0DCA54E61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C2E209-29CA-4832-0575-66BC100F86A7}"/>
              </a:ext>
            </a:extLst>
          </p:cNvPr>
          <p:cNvSpPr txBox="1">
            <a:spLocks/>
          </p:cNvSpPr>
          <p:nvPr/>
        </p:nvSpPr>
        <p:spPr>
          <a:xfrm>
            <a:off x="-337943" y="-3987448"/>
            <a:ext cx="12867885" cy="1550259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81800" dirty="0">
                <a:solidFill>
                  <a:srgbClr val="F8F8F8"/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?</a:t>
            </a: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CFDA8FC3-C170-40D5-0AA6-3AF21E1C71E9}"/>
              </a:ext>
            </a:extLst>
          </p:cNvPr>
          <p:cNvSpPr txBox="1">
            <a:spLocks/>
          </p:cNvSpPr>
          <p:nvPr/>
        </p:nvSpPr>
        <p:spPr>
          <a:xfrm>
            <a:off x="2526544" y="1659616"/>
            <a:ext cx="7138909" cy="353876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5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何をすべきか</a:t>
            </a:r>
            <a:endParaRPr lang="en-US" altLang="ja-JP" sz="54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  <a:p>
            <a:r>
              <a:rPr lang="ja-JP" altLang="en-US" sz="5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何て言っているかも</a:t>
            </a:r>
            <a:endParaRPr lang="en-US" altLang="ja-JP" sz="54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  <a:p>
            <a:r>
              <a:rPr lang="ja-JP" altLang="en-US" sz="5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わからない</a:t>
            </a:r>
          </a:p>
        </p:txBody>
      </p:sp>
    </p:spTree>
    <p:extLst>
      <p:ext uri="{BB962C8B-B14F-4D97-AF65-F5344CB8AC3E}">
        <p14:creationId xmlns:p14="http://schemas.microsoft.com/office/powerpoint/2010/main" val="4169752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F9C989-9023-8B39-3B70-4E7584D68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E847A5FE-42A0-491D-8A9C-8DF36C451198}"/>
              </a:ext>
            </a:extLst>
          </p:cNvPr>
          <p:cNvSpPr txBox="1">
            <a:spLocks/>
          </p:cNvSpPr>
          <p:nvPr/>
        </p:nvSpPr>
        <p:spPr>
          <a:xfrm>
            <a:off x="1305339" y="2395331"/>
            <a:ext cx="9581322" cy="206733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5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初心者が全て理解するには</a:t>
            </a:r>
            <a:endParaRPr lang="en-US" altLang="ja-JP" sz="54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F7EF05-0F57-41BC-900F-731B2ECE35C5}"/>
              </a:ext>
            </a:extLst>
          </p:cNvPr>
          <p:cNvSpPr txBox="1"/>
          <p:nvPr/>
        </p:nvSpPr>
        <p:spPr>
          <a:xfrm>
            <a:off x="2175060" y="4161918"/>
            <a:ext cx="7841880" cy="646331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ja-JP" altLang="en-US" sz="36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ハードウェアやその仕組み、概念</a:t>
            </a:r>
            <a:r>
              <a:rPr lang="en-US" altLang="ja-JP" sz="36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026695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3DE8F-BF21-21AE-D3E5-5DC91AD55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B847E174-922A-5F78-C9A6-9D74B4C4C986}"/>
              </a:ext>
            </a:extLst>
          </p:cNvPr>
          <p:cNvSpPr txBox="1">
            <a:spLocks/>
          </p:cNvSpPr>
          <p:nvPr/>
        </p:nvSpPr>
        <p:spPr>
          <a:xfrm>
            <a:off x="468658" y="2860976"/>
            <a:ext cx="4853353" cy="206733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わからない事を</a:t>
            </a:r>
            <a:endParaRPr lang="en-US" altLang="ja-JP" sz="44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  <a:p>
            <a:r>
              <a:rPr lang="ja-JP" altLang="en-US" sz="4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わからないままに</a:t>
            </a:r>
            <a:endParaRPr lang="en-US" altLang="ja-JP" sz="44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83A67F25-60FE-D82B-3ADB-FED032A2D4F5}"/>
              </a:ext>
            </a:extLst>
          </p:cNvPr>
          <p:cNvCxnSpPr>
            <a:cxnSpLocks/>
          </p:cNvCxnSpPr>
          <p:nvPr/>
        </p:nvCxnSpPr>
        <p:spPr>
          <a:xfrm>
            <a:off x="0" y="5156914"/>
            <a:ext cx="121920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タイトル 1">
            <a:extLst>
              <a:ext uri="{FF2B5EF4-FFF2-40B4-BE49-F238E27FC236}">
                <a16:creationId xmlns:a16="http://schemas.microsoft.com/office/drawing/2014/main" id="{1C34F516-7D73-4791-9F73-B8EF4AE9243B}"/>
              </a:ext>
            </a:extLst>
          </p:cNvPr>
          <p:cNvSpPr txBox="1">
            <a:spLocks/>
          </p:cNvSpPr>
          <p:nvPr/>
        </p:nvSpPr>
        <p:spPr>
          <a:xfrm>
            <a:off x="7291292" y="1171322"/>
            <a:ext cx="4310130" cy="451535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39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進</a:t>
            </a:r>
          </a:p>
        </p:txBody>
      </p:sp>
    </p:spTree>
    <p:extLst>
      <p:ext uri="{BB962C8B-B14F-4D97-AF65-F5344CB8AC3E}">
        <p14:creationId xmlns:p14="http://schemas.microsoft.com/office/powerpoint/2010/main" val="837585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828587-C480-83D1-8EC7-769D3EBFE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084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A64F5A-B9BE-839F-37BD-53222FD9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545ECC-E223-C449-3399-13266B705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10239"/>
            <a:ext cx="9144000" cy="1480930"/>
          </a:xfrm>
        </p:spPr>
        <p:txBody>
          <a:bodyPr>
            <a:normAutofit/>
          </a:bodyPr>
          <a:lstStyle/>
          <a:p>
            <a:r>
              <a:rPr kumimoji="1" lang="en-US" altLang="ja-JP" sz="9600" dirty="0">
                <a:solidFill>
                  <a:schemeClr val="bg1"/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WHYAI</a:t>
            </a:r>
            <a:endParaRPr kumimoji="1" lang="ja-JP" altLang="en-US" sz="9600" dirty="0">
              <a:solidFill>
                <a:schemeClr val="bg1"/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C00D6AA-800C-4226-FBBD-4AADC1ADA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51831"/>
            <a:ext cx="9144000" cy="446842"/>
          </a:xfrm>
        </p:spPr>
        <p:txBody>
          <a:bodyPr>
            <a:normAutofit/>
          </a:bodyPr>
          <a:lstStyle/>
          <a:p>
            <a:r>
              <a:rPr lang="en-US" altLang="ja-JP" dirty="0">
                <a:solidFill>
                  <a:schemeClr val="bg1"/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IT</a:t>
            </a:r>
            <a:r>
              <a:rPr lang="ja-JP" altLang="en-US" dirty="0">
                <a:solidFill>
                  <a:schemeClr val="bg1"/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学習支援サービス</a:t>
            </a:r>
            <a:endParaRPr kumimoji="1" lang="ja-JP" altLang="en-US" dirty="0">
              <a:solidFill>
                <a:schemeClr val="bg1"/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3843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9881C-C5B7-5BD9-A289-C8223F0C3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CF8C52-4607-4EE9-0BE1-18ED49596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02303" y="1797166"/>
            <a:ext cx="6860899" cy="2067338"/>
          </a:xfrm>
        </p:spPr>
        <p:txBody>
          <a:bodyPr anchor="ctr" anchorCtr="0">
            <a:normAutofit/>
          </a:bodyPr>
          <a:lstStyle/>
          <a:p>
            <a:r>
              <a:rPr kumimoji="1" lang="en-US" altLang="ja-JP" sz="5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AI</a:t>
            </a:r>
            <a:r>
              <a:rPr kumimoji="1" lang="ja-JP" altLang="en-US" sz="5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時代</a:t>
            </a: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3696CA08-3D43-94F0-850A-133E4B9685F7}"/>
              </a:ext>
            </a:extLst>
          </p:cNvPr>
          <p:cNvSpPr txBox="1">
            <a:spLocks/>
          </p:cNvSpPr>
          <p:nvPr/>
        </p:nvSpPr>
        <p:spPr>
          <a:xfrm>
            <a:off x="876423" y="1930978"/>
            <a:ext cx="5482173" cy="451535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1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加速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0E176C1-FC90-6261-FAF4-E8ADC7EACFC5}"/>
              </a:ext>
            </a:extLst>
          </p:cNvPr>
          <p:cNvCxnSpPr>
            <a:cxnSpLocks/>
          </p:cNvCxnSpPr>
          <p:nvPr/>
        </p:nvCxnSpPr>
        <p:spPr>
          <a:xfrm>
            <a:off x="5838092" y="3724421"/>
            <a:ext cx="1955410" cy="0"/>
          </a:xfrm>
          <a:prstGeom prst="line">
            <a:avLst/>
          </a:prstGeom>
          <a:ln w="1238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2F3805F-802E-4870-507F-CCA9FBEBD76C}"/>
              </a:ext>
            </a:extLst>
          </p:cNvPr>
          <p:cNvCxnSpPr>
            <a:cxnSpLocks/>
          </p:cNvCxnSpPr>
          <p:nvPr/>
        </p:nvCxnSpPr>
        <p:spPr>
          <a:xfrm>
            <a:off x="5838092" y="4188656"/>
            <a:ext cx="2349304" cy="0"/>
          </a:xfrm>
          <a:prstGeom prst="line">
            <a:avLst/>
          </a:prstGeom>
          <a:ln w="1238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578EBC8-498D-8ED3-BD61-3295FDCC99A4}"/>
              </a:ext>
            </a:extLst>
          </p:cNvPr>
          <p:cNvCxnSpPr>
            <a:cxnSpLocks/>
          </p:cNvCxnSpPr>
          <p:nvPr/>
        </p:nvCxnSpPr>
        <p:spPr>
          <a:xfrm>
            <a:off x="5838092" y="4638584"/>
            <a:ext cx="1420837" cy="0"/>
          </a:xfrm>
          <a:prstGeom prst="line">
            <a:avLst/>
          </a:prstGeom>
          <a:ln w="1238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563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F5DA9-6B05-4976-B40F-EC80ED49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EFDFEA-A423-39CC-66EB-6FDF34A19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02303" y="1797166"/>
            <a:ext cx="6860899" cy="2067338"/>
          </a:xfrm>
        </p:spPr>
        <p:txBody>
          <a:bodyPr anchor="ctr" anchorCtr="0">
            <a:normAutofit/>
          </a:bodyPr>
          <a:lstStyle/>
          <a:p>
            <a:r>
              <a:rPr kumimoji="1" lang="en-US" altLang="ja-JP" sz="5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AI</a:t>
            </a:r>
            <a:r>
              <a:rPr kumimoji="1" lang="ja-JP" altLang="en-US" sz="5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時代</a:t>
            </a: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9C343412-2768-D60D-DCA2-D0400E630A19}"/>
              </a:ext>
            </a:extLst>
          </p:cNvPr>
          <p:cNvSpPr txBox="1">
            <a:spLocks/>
          </p:cNvSpPr>
          <p:nvPr/>
        </p:nvSpPr>
        <p:spPr>
          <a:xfrm>
            <a:off x="956603" y="2950546"/>
            <a:ext cx="5259155" cy="20920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5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エンジニア</a:t>
            </a:r>
            <a:endParaRPr lang="en-US" altLang="ja-JP" sz="54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  <a:p>
            <a:r>
              <a:rPr lang="ja-JP" altLang="en-US" sz="5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求められる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A2C3CFE7-045C-A9E4-7FB9-61EC6D0A8EB4}"/>
              </a:ext>
            </a:extLst>
          </p:cNvPr>
          <p:cNvSpPr txBox="1">
            <a:spLocks/>
          </p:cNvSpPr>
          <p:nvPr/>
        </p:nvSpPr>
        <p:spPr>
          <a:xfrm>
            <a:off x="6137028" y="1565925"/>
            <a:ext cx="4907279" cy="206733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8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level</a:t>
            </a:r>
            <a:endParaRPr lang="ja-JP" altLang="en-US" sz="48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478563DF-69FB-8C5F-666A-F1823E20D592}"/>
              </a:ext>
            </a:extLst>
          </p:cNvPr>
          <p:cNvSpPr txBox="1">
            <a:spLocks/>
          </p:cNvSpPr>
          <p:nvPr/>
        </p:nvSpPr>
        <p:spPr>
          <a:xfrm>
            <a:off x="5693864" y="3386829"/>
            <a:ext cx="4907279" cy="206733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6600" dirty="0">
                <a:solidFill>
                  <a:srgbClr val="FF5050"/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高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0C4B0154-0323-2EDF-5A88-01EF8346F417}"/>
              </a:ext>
            </a:extLst>
          </p:cNvPr>
          <p:cNvCxnSpPr>
            <a:cxnSpLocks/>
          </p:cNvCxnSpPr>
          <p:nvPr/>
        </p:nvCxnSpPr>
        <p:spPr>
          <a:xfrm flipV="1">
            <a:off x="9236438" y="3990812"/>
            <a:ext cx="0" cy="1041392"/>
          </a:xfrm>
          <a:prstGeom prst="straightConnector1">
            <a:avLst/>
          </a:prstGeom>
          <a:ln w="114300">
            <a:solidFill>
              <a:srgbClr val="FF5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FC3F04EB-4739-7C47-31DE-1DCF3E07B504}"/>
              </a:ext>
            </a:extLst>
          </p:cNvPr>
          <p:cNvCxnSpPr>
            <a:cxnSpLocks/>
          </p:cNvCxnSpPr>
          <p:nvPr/>
        </p:nvCxnSpPr>
        <p:spPr>
          <a:xfrm flipV="1">
            <a:off x="9613689" y="3627483"/>
            <a:ext cx="0" cy="1409377"/>
          </a:xfrm>
          <a:prstGeom prst="straightConnector1">
            <a:avLst/>
          </a:prstGeom>
          <a:ln w="114300">
            <a:solidFill>
              <a:srgbClr val="FF5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988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5D2FB-6909-4ABC-7C1F-2A6EE1B5C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3AFC16FA-7384-A9D1-25D1-9BBDF2064DC2}"/>
              </a:ext>
            </a:extLst>
          </p:cNvPr>
          <p:cNvSpPr txBox="1">
            <a:spLocks/>
          </p:cNvSpPr>
          <p:nvPr/>
        </p:nvSpPr>
        <p:spPr>
          <a:xfrm>
            <a:off x="2192214" y="2650163"/>
            <a:ext cx="7807572" cy="206733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AI</a:t>
            </a:r>
            <a:r>
              <a:rPr lang="ja-JP" altLang="en-US" sz="4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にさらされている職種</a:t>
            </a:r>
            <a:endParaRPr lang="en-US" altLang="ja-JP" sz="44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  <a:p>
            <a:r>
              <a:rPr lang="en-US" altLang="ja-JP" sz="4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22〜25</a:t>
            </a:r>
            <a:r>
              <a:rPr lang="ja-JP" altLang="en-US" sz="4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歳の若手の雇用</a:t>
            </a:r>
          </a:p>
        </p:txBody>
      </p:sp>
    </p:spTree>
    <p:extLst>
      <p:ext uri="{BB962C8B-B14F-4D97-AF65-F5344CB8AC3E}">
        <p14:creationId xmlns:p14="http://schemas.microsoft.com/office/powerpoint/2010/main" val="1353572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5ECDE-F3D2-FBB9-70A2-7AFB79A8D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9CFF4001-D06F-1CA1-453B-863E289B6A03}"/>
              </a:ext>
            </a:extLst>
          </p:cNvPr>
          <p:cNvSpPr txBox="1">
            <a:spLocks/>
          </p:cNvSpPr>
          <p:nvPr/>
        </p:nvSpPr>
        <p:spPr>
          <a:xfrm>
            <a:off x="2078198" y="2574830"/>
            <a:ext cx="3543113" cy="284847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199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13</a:t>
            </a:r>
            <a:endParaRPr lang="ja-JP" altLang="en-US" sz="199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7B5318DC-CA3B-C3F1-AD73-40E292943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3130" y="6516368"/>
            <a:ext cx="10008870" cy="341632"/>
          </a:xfrm>
        </p:spPr>
        <p:txBody>
          <a:bodyPr wrap="square">
            <a:spAutoFit/>
          </a:bodyPr>
          <a:lstStyle/>
          <a:p>
            <a:pPr algn="r"/>
            <a:r>
              <a:rPr lang="en-US" altLang="ja-JP" sz="1800" b="1" dirty="0"/>
              <a:t>By Canaries in the Coal Mine? Six Facts about the Recent Employment Effects of Artificial Intelligence</a:t>
            </a:r>
            <a:endParaRPr lang="ja-JP" altLang="en-US" sz="900" dirty="0">
              <a:latin typeface="源ノ角ゴシック JP Medium" panose="020B0600000000000000" pitchFamily="34" charset="-128"/>
              <a:ea typeface="源ノ角ゴシック JP Medium" panose="020B0600000000000000" pitchFamily="34" charset="-128"/>
            </a:endParaRP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2A2C2CD3-A7E0-6C87-76ED-1A36F7E5B4DB}"/>
              </a:ext>
            </a:extLst>
          </p:cNvPr>
          <p:cNvSpPr txBox="1">
            <a:spLocks/>
          </p:cNvSpPr>
          <p:nvPr/>
        </p:nvSpPr>
        <p:spPr>
          <a:xfrm>
            <a:off x="6227414" y="1874766"/>
            <a:ext cx="4853940" cy="390011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0500" dirty="0">
                <a:solidFill>
                  <a:schemeClr val="tx2">
                    <a:lumMod val="50000"/>
                    <a:lumOff val="50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減</a:t>
            </a:r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9C743FA7-9F6B-4214-61F0-0D063482BB81}"/>
              </a:ext>
            </a:extLst>
          </p:cNvPr>
          <p:cNvSpPr txBox="1">
            <a:spLocks/>
          </p:cNvSpPr>
          <p:nvPr/>
        </p:nvSpPr>
        <p:spPr>
          <a:xfrm>
            <a:off x="2183130" y="228443"/>
            <a:ext cx="7612380" cy="143255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0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2022 - 2025</a:t>
            </a:r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59B24842-CC34-4C96-BBDA-1D216B0EE0B5}"/>
              </a:ext>
            </a:extLst>
          </p:cNvPr>
          <p:cNvSpPr txBox="1">
            <a:spLocks/>
          </p:cNvSpPr>
          <p:nvPr/>
        </p:nvSpPr>
        <p:spPr>
          <a:xfrm>
            <a:off x="5147755" y="2969930"/>
            <a:ext cx="2586037" cy="2391424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166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%</a:t>
            </a:r>
            <a:endParaRPr lang="ja-JP" altLang="en-US" sz="166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7180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7A0AB5-C8E0-D95E-76FD-784188C0F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">
            <a:extLst>
              <a:ext uri="{FF2B5EF4-FFF2-40B4-BE49-F238E27FC236}">
                <a16:creationId xmlns:a16="http://schemas.microsoft.com/office/drawing/2014/main" id="{DD322E30-EF78-CA1E-5797-0AE3AE97EA93}"/>
              </a:ext>
            </a:extLst>
          </p:cNvPr>
          <p:cNvSpPr txBox="1">
            <a:spLocks/>
          </p:cNvSpPr>
          <p:nvPr/>
        </p:nvSpPr>
        <p:spPr>
          <a:xfrm>
            <a:off x="1044885" y="2596760"/>
            <a:ext cx="4461183" cy="2529923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8800" dirty="0">
                <a:solidFill>
                  <a:schemeClr val="accent6"/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簡単な</a:t>
            </a:r>
            <a:endParaRPr lang="en-US" altLang="ja-JP" sz="8800" dirty="0">
              <a:solidFill>
                <a:schemeClr val="accent6"/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  <a:p>
            <a:r>
              <a:rPr lang="ja-JP" altLang="en-US" sz="8800" dirty="0">
                <a:solidFill>
                  <a:schemeClr val="accent6"/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タスク</a:t>
            </a:r>
            <a:endParaRPr lang="en-US" altLang="ja-JP" sz="8800" dirty="0">
              <a:solidFill>
                <a:schemeClr val="accent6"/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D19B54E4-61FF-BB98-5D21-7811D0DAD584}"/>
              </a:ext>
            </a:extLst>
          </p:cNvPr>
          <p:cNvCxnSpPr>
            <a:cxnSpLocks/>
          </p:cNvCxnSpPr>
          <p:nvPr/>
        </p:nvCxnSpPr>
        <p:spPr>
          <a:xfrm flipV="1">
            <a:off x="5226479" y="4255749"/>
            <a:ext cx="2795578" cy="1497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タイトル 1">
            <a:extLst>
              <a:ext uri="{FF2B5EF4-FFF2-40B4-BE49-F238E27FC236}">
                <a16:creationId xmlns:a16="http://schemas.microsoft.com/office/drawing/2014/main" id="{455A4FA0-74C8-9404-DAB8-D6EE5995A8B2}"/>
              </a:ext>
            </a:extLst>
          </p:cNvPr>
          <p:cNvSpPr txBox="1">
            <a:spLocks/>
          </p:cNvSpPr>
          <p:nvPr/>
        </p:nvSpPr>
        <p:spPr>
          <a:xfrm>
            <a:off x="7917126" y="4186888"/>
            <a:ext cx="2834090" cy="92333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人間</a:t>
            </a:r>
            <a:endParaRPr lang="en-US" altLang="ja-JP" dirty="0">
              <a:solidFill>
                <a:schemeClr val="tx1">
                  <a:lumMod val="50000"/>
                  <a:lumOff val="50000"/>
                </a:schemeClr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FAED6504-8749-6FE4-9005-062B8BA2A42B}"/>
              </a:ext>
            </a:extLst>
          </p:cNvPr>
          <p:cNvSpPr txBox="1">
            <a:spLocks/>
          </p:cNvSpPr>
          <p:nvPr/>
        </p:nvSpPr>
        <p:spPr>
          <a:xfrm>
            <a:off x="7530063" y="1279843"/>
            <a:ext cx="3828360" cy="3155233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91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AI</a:t>
            </a:r>
          </a:p>
        </p:txBody>
      </p:sp>
      <p:cxnSp>
        <p:nvCxnSpPr>
          <p:cNvPr id="6" name="コネクタ: 曲線 5">
            <a:extLst>
              <a:ext uri="{FF2B5EF4-FFF2-40B4-BE49-F238E27FC236}">
                <a16:creationId xmlns:a16="http://schemas.microsoft.com/office/drawing/2014/main" id="{58A8DC5E-224B-119F-D06C-9C48A565F341}"/>
              </a:ext>
            </a:extLst>
          </p:cNvPr>
          <p:cNvCxnSpPr>
            <a:cxnSpLocks/>
          </p:cNvCxnSpPr>
          <p:nvPr/>
        </p:nvCxnSpPr>
        <p:spPr>
          <a:xfrm flipV="1">
            <a:off x="5226479" y="2872450"/>
            <a:ext cx="2515989" cy="1398272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444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C42FE-4967-0A9E-62B6-6765577E8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">
            <a:extLst>
              <a:ext uri="{FF2B5EF4-FFF2-40B4-BE49-F238E27FC236}">
                <a16:creationId xmlns:a16="http://schemas.microsoft.com/office/drawing/2014/main" id="{2CBF6F30-02EF-DD2E-2666-DBB1EA7A4545}"/>
              </a:ext>
            </a:extLst>
          </p:cNvPr>
          <p:cNvSpPr txBox="1">
            <a:spLocks/>
          </p:cNvSpPr>
          <p:nvPr/>
        </p:nvSpPr>
        <p:spPr>
          <a:xfrm>
            <a:off x="1044885" y="2596760"/>
            <a:ext cx="4461183" cy="2529923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8800" dirty="0">
                <a:solidFill>
                  <a:schemeClr val="accent6"/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簡単な</a:t>
            </a:r>
            <a:endParaRPr lang="en-US" altLang="ja-JP" sz="8800" dirty="0">
              <a:solidFill>
                <a:schemeClr val="accent6"/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  <a:p>
            <a:r>
              <a:rPr lang="ja-JP" altLang="en-US" sz="8800" dirty="0">
                <a:solidFill>
                  <a:schemeClr val="accent6"/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タスク</a:t>
            </a:r>
            <a:endParaRPr lang="en-US" altLang="ja-JP" sz="8800" dirty="0">
              <a:solidFill>
                <a:schemeClr val="accent6"/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85BE8C53-CC6B-DDF4-9A16-05BE1DBA34C5}"/>
              </a:ext>
            </a:extLst>
          </p:cNvPr>
          <p:cNvCxnSpPr>
            <a:cxnSpLocks/>
          </p:cNvCxnSpPr>
          <p:nvPr/>
        </p:nvCxnSpPr>
        <p:spPr>
          <a:xfrm flipV="1">
            <a:off x="5226479" y="4255749"/>
            <a:ext cx="2795578" cy="1497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タイトル 1">
            <a:extLst>
              <a:ext uri="{FF2B5EF4-FFF2-40B4-BE49-F238E27FC236}">
                <a16:creationId xmlns:a16="http://schemas.microsoft.com/office/drawing/2014/main" id="{BAEC41AB-B07E-DEA6-FF21-8AFDA62F44F4}"/>
              </a:ext>
            </a:extLst>
          </p:cNvPr>
          <p:cNvSpPr txBox="1">
            <a:spLocks/>
          </p:cNvSpPr>
          <p:nvPr/>
        </p:nvSpPr>
        <p:spPr>
          <a:xfrm>
            <a:off x="7742468" y="4000271"/>
            <a:ext cx="2834090" cy="92333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人間</a:t>
            </a:r>
            <a:endParaRPr lang="en-US" altLang="ja-JP" dirty="0">
              <a:solidFill>
                <a:schemeClr val="tx1">
                  <a:lumMod val="50000"/>
                  <a:lumOff val="50000"/>
                </a:schemeClr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F311F70D-462C-4AE9-C54C-E10B7F5FE0E5}"/>
              </a:ext>
            </a:extLst>
          </p:cNvPr>
          <p:cNvSpPr txBox="1">
            <a:spLocks/>
          </p:cNvSpPr>
          <p:nvPr/>
        </p:nvSpPr>
        <p:spPr>
          <a:xfrm>
            <a:off x="7530063" y="1279843"/>
            <a:ext cx="3828360" cy="3155233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91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AI</a:t>
            </a:r>
          </a:p>
        </p:txBody>
      </p:sp>
      <p:cxnSp>
        <p:nvCxnSpPr>
          <p:cNvPr id="6" name="コネクタ: 曲線 5">
            <a:extLst>
              <a:ext uri="{FF2B5EF4-FFF2-40B4-BE49-F238E27FC236}">
                <a16:creationId xmlns:a16="http://schemas.microsoft.com/office/drawing/2014/main" id="{5C80E033-F0F4-BE63-47E2-B1F21700E03E}"/>
              </a:ext>
            </a:extLst>
          </p:cNvPr>
          <p:cNvCxnSpPr>
            <a:cxnSpLocks/>
          </p:cNvCxnSpPr>
          <p:nvPr/>
        </p:nvCxnSpPr>
        <p:spPr>
          <a:xfrm flipV="1">
            <a:off x="5226479" y="2872450"/>
            <a:ext cx="2515989" cy="1398272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9F0ECFC-395E-148E-C770-E77E8E33024D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dk1">
              <a:alpha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3BC790E0-C2C2-106E-7E14-6E9788974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0859" y="2537917"/>
            <a:ext cx="6860899" cy="2067338"/>
          </a:xfrm>
        </p:spPr>
        <p:txBody>
          <a:bodyPr anchor="ctr" anchorCtr="0">
            <a:normAutofit/>
          </a:bodyPr>
          <a:lstStyle/>
          <a:p>
            <a:r>
              <a:rPr lang="ja-JP" altLang="en-US" sz="5400" dirty="0">
                <a:solidFill>
                  <a:schemeClr val="bg1"/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若手エンジニアが勉強できなくなる</a:t>
            </a:r>
            <a:endParaRPr kumimoji="1" lang="ja-JP" altLang="en-US" sz="5400" dirty="0">
              <a:solidFill>
                <a:schemeClr val="bg1"/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1375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1D47C-D3DB-E6EA-5ED6-33DE6DF4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EA2CF115-A904-FBCE-C9FD-AF5798632C7D}"/>
              </a:ext>
            </a:extLst>
          </p:cNvPr>
          <p:cNvSpPr txBox="1">
            <a:spLocks/>
          </p:cNvSpPr>
          <p:nvPr/>
        </p:nvSpPr>
        <p:spPr>
          <a:xfrm>
            <a:off x="0" y="269820"/>
            <a:ext cx="12192000" cy="68580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3900" dirty="0">
                <a:solidFill>
                  <a:schemeClr val="bg1">
                    <a:lumMod val="95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WHYAI</a:t>
            </a:r>
            <a:endParaRPr lang="ja-JP" altLang="en-US" sz="23900" dirty="0">
              <a:solidFill>
                <a:schemeClr val="bg1">
                  <a:lumMod val="95000"/>
                </a:schemeClr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B3F37A7A-DD86-5DB6-FA86-45B01BD6F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7064" y="1915335"/>
            <a:ext cx="3857870" cy="978729"/>
          </a:xfrm>
        </p:spPr>
        <p:txBody>
          <a:bodyPr anchor="ctr" anchorCtr="0">
            <a:spAutoFit/>
          </a:bodyPr>
          <a:lstStyle/>
          <a:p>
            <a:pPr algn="l"/>
            <a:r>
              <a:rPr lang="ja-JP" altLang="en-US" sz="32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学習できる</a:t>
            </a:r>
            <a:br>
              <a:rPr lang="en-US" altLang="ja-JP" sz="32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</a:br>
            <a:r>
              <a:rPr lang="ja-JP" altLang="en-US" sz="32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新しいことを学べる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C3671837-9924-A8E2-D994-24F782D81D5F}"/>
              </a:ext>
            </a:extLst>
          </p:cNvPr>
          <p:cNvSpPr txBox="1">
            <a:spLocks/>
          </p:cNvSpPr>
          <p:nvPr/>
        </p:nvSpPr>
        <p:spPr>
          <a:xfrm>
            <a:off x="2665550" y="3048629"/>
            <a:ext cx="6860899" cy="206733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66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機能</a:t>
            </a:r>
          </a:p>
        </p:txBody>
      </p:sp>
    </p:spTree>
    <p:extLst>
      <p:ext uri="{BB962C8B-B14F-4D97-AF65-F5344CB8AC3E}">
        <p14:creationId xmlns:p14="http://schemas.microsoft.com/office/powerpoint/2010/main" val="133542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0613A-CCF8-467A-4B6C-0AC10E35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686435D7-416E-92D8-1EC2-97146BE83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21" name="タイトル 1">
            <a:extLst>
              <a:ext uri="{FF2B5EF4-FFF2-40B4-BE49-F238E27FC236}">
                <a16:creationId xmlns:a16="http://schemas.microsoft.com/office/drawing/2014/main" id="{ACA9507E-48A8-61F0-5F12-D2735AE83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377868"/>
            <a:ext cx="1828800" cy="424732"/>
          </a:xfrm>
        </p:spPr>
        <p:txBody>
          <a:bodyPr wrap="square" anchor="ctr" anchorCtr="0">
            <a:spAutoFit/>
          </a:bodyPr>
          <a:lstStyle/>
          <a:p>
            <a:r>
              <a:rPr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WHYAI</a:t>
            </a:r>
            <a:endParaRPr lang="ja-JP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22" name="タイトル 1">
            <a:extLst>
              <a:ext uri="{FF2B5EF4-FFF2-40B4-BE49-F238E27FC236}">
                <a16:creationId xmlns:a16="http://schemas.microsoft.com/office/drawing/2014/main" id="{70347E35-7A1D-D0A5-E4D2-7DEADB246287}"/>
              </a:ext>
            </a:extLst>
          </p:cNvPr>
          <p:cNvSpPr txBox="1">
            <a:spLocks/>
          </p:cNvSpPr>
          <p:nvPr/>
        </p:nvSpPr>
        <p:spPr>
          <a:xfrm>
            <a:off x="4052386" y="2634936"/>
            <a:ext cx="4087228" cy="1588127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5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Web</a:t>
            </a:r>
            <a:r>
              <a:rPr lang="ja-JP" altLang="en-US" sz="5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サイト</a:t>
            </a:r>
            <a:endParaRPr lang="en-US" altLang="ja-JP" sz="54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  <a:p>
            <a:r>
              <a:rPr lang="ja-JP" altLang="en-US" sz="5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にアクセス</a:t>
            </a:r>
          </a:p>
        </p:txBody>
      </p:sp>
    </p:spTree>
    <p:extLst>
      <p:ext uri="{BB962C8B-B14F-4D97-AF65-F5344CB8AC3E}">
        <p14:creationId xmlns:p14="http://schemas.microsoft.com/office/powerpoint/2010/main" val="1990102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4650C-5753-1A8D-9980-8336C651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3210DE53-4FCC-722F-28A1-FBB019141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524" y="207888"/>
            <a:ext cx="9673652" cy="3622098"/>
          </a:xfrm>
          <a:prstGeom prst="rect">
            <a:avLst/>
          </a:prstGeom>
        </p:spPr>
      </p:pic>
      <p:sp>
        <p:nvSpPr>
          <p:cNvPr id="4" name="タイトル 1">
            <a:extLst>
              <a:ext uri="{FF2B5EF4-FFF2-40B4-BE49-F238E27FC236}">
                <a16:creationId xmlns:a16="http://schemas.microsoft.com/office/drawing/2014/main" id="{2475B217-8C32-1B07-1545-AADF615FFFEE}"/>
              </a:ext>
            </a:extLst>
          </p:cNvPr>
          <p:cNvSpPr txBox="1">
            <a:spLocks/>
          </p:cNvSpPr>
          <p:nvPr/>
        </p:nvSpPr>
        <p:spPr>
          <a:xfrm>
            <a:off x="1090535" y="3078134"/>
            <a:ext cx="3025514" cy="70173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内容を入力</a:t>
            </a:r>
            <a:endParaRPr lang="en-US" altLang="ja-JP" sz="44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90926211-FD17-2D50-411D-35AF408A0313}"/>
              </a:ext>
            </a:extLst>
          </p:cNvPr>
          <p:cNvSpPr txBox="1">
            <a:spLocks/>
          </p:cNvSpPr>
          <p:nvPr/>
        </p:nvSpPr>
        <p:spPr>
          <a:xfrm>
            <a:off x="0" y="6377868"/>
            <a:ext cx="1828800" cy="4247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>
                <a:solidFill>
                  <a:schemeClr val="tx1">
                    <a:lumMod val="50000"/>
                    <a:lumOff val="50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WHYAI</a:t>
            </a:r>
            <a:endParaRPr lang="ja-JP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8395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00B72-3A51-1ED8-04FA-92615D8A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B128ECF2-E2C2-7CBE-EE5C-26BAEFB8B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38" y="1248866"/>
            <a:ext cx="9432152" cy="4307596"/>
          </a:xfrm>
          <a:prstGeom prst="rect">
            <a:avLst/>
          </a:prstGeom>
        </p:spPr>
      </p:pic>
      <p:sp>
        <p:nvSpPr>
          <p:cNvPr id="4" name="タイトル 1">
            <a:extLst>
              <a:ext uri="{FF2B5EF4-FFF2-40B4-BE49-F238E27FC236}">
                <a16:creationId xmlns:a16="http://schemas.microsoft.com/office/drawing/2014/main" id="{78BDF355-72F7-870A-6407-E05AB0D0D1EA}"/>
              </a:ext>
            </a:extLst>
          </p:cNvPr>
          <p:cNvSpPr txBox="1">
            <a:spLocks/>
          </p:cNvSpPr>
          <p:nvPr/>
        </p:nvSpPr>
        <p:spPr>
          <a:xfrm>
            <a:off x="4583242" y="5290878"/>
            <a:ext cx="3025514" cy="70173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AI</a:t>
            </a:r>
            <a:r>
              <a:rPr lang="ja-JP" altLang="en-US" sz="4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によって</a:t>
            </a:r>
            <a:endParaRPr lang="en-US" altLang="ja-JP" sz="44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2CA29EEF-CE36-B593-C571-B3489D46ABA1}"/>
              </a:ext>
            </a:extLst>
          </p:cNvPr>
          <p:cNvSpPr txBox="1">
            <a:spLocks/>
          </p:cNvSpPr>
          <p:nvPr/>
        </p:nvSpPr>
        <p:spPr>
          <a:xfrm>
            <a:off x="0" y="6377868"/>
            <a:ext cx="1828800" cy="4247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>
                <a:solidFill>
                  <a:schemeClr val="tx1">
                    <a:lumMod val="50000"/>
                    <a:lumOff val="50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WHYAI</a:t>
            </a:r>
            <a:endParaRPr lang="ja-JP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9323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5F6AA8-B4A0-8C34-F623-8789A6171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D4A9E9E6-10ED-5E24-D442-A9A2D1B9A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659" y="1221744"/>
            <a:ext cx="8804223" cy="4414512"/>
          </a:xfrm>
          <a:prstGeom prst="rect">
            <a:avLst/>
          </a:prstGeom>
        </p:spPr>
      </p:pic>
      <p:sp>
        <p:nvSpPr>
          <p:cNvPr id="4" name="タイトル 1">
            <a:extLst>
              <a:ext uri="{FF2B5EF4-FFF2-40B4-BE49-F238E27FC236}">
                <a16:creationId xmlns:a16="http://schemas.microsoft.com/office/drawing/2014/main" id="{2B28450A-EBF8-927E-16C4-D885E12A564C}"/>
              </a:ext>
            </a:extLst>
          </p:cNvPr>
          <p:cNvSpPr txBox="1">
            <a:spLocks/>
          </p:cNvSpPr>
          <p:nvPr/>
        </p:nvSpPr>
        <p:spPr>
          <a:xfrm>
            <a:off x="3568283" y="5285390"/>
            <a:ext cx="5055433" cy="70173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最適な回答が生成</a:t>
            </a:r>
            <a:endParaRPr lang="en-US" altLang="ja-JP" sz="44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BF85D201-61A9-F635-D51D-125D33E7013C}"/>
              </a:ext>
            </a:extLst>
          </p:cNvPr>
          <p:cNvSpPr txBox="1">
            <a:spLocks/>
          </p:cNvSpPr>
          <p:nvPr/>
        </p:nvSpPr>
        <p:spPr>
          <a:xfrm>
            <a:off x="0" y="6377868"/>
            <a:ext cx="1828800" cy="4247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>
                <a:solidFill>
                  <a:schemeClr val="tx1">
                    <a:lumMod val="50000"/>
                    <a:lumOff val="50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WHYAI</a:t>
            </a:r>
            <a:endParaRPr lang="ja-JP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0253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C2102-759E-6283-E141-89D19CDE5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943E7DF2-E38E-2847-9E2F-8C72D5155F81}"/>
              </a:ext>
            </a:extLst>
          </p:cNvPr>
          <p:cNvSpPr txBox="1">
            <a:spLocks/>
          </p:cNvSpPr>
          <p:nvPr/>
        </p:nvSpPr>
        <p:spPr>
          <a:xfrm>
            <a:off x="-292309" y="626694"/>
            <a:ext cx="12776617" cy="560461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9900" dirty="0">
                <a:solidFill>
                  <a:schemeClr val="bg1">
                    <a:lumMod val="95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システムの設計</a:t>
            </a:r>
            <a:endParaRPr lang="en-US" altLang="ja-JP" sz="19900" dirty="0">
              <a:solidFill>
                <a:schemeClr val="bg1">
                  <a:lumMod val="95000"/>
                </a:schemeClr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B897576-8227-598A-6928-EFC346360CF8}"/>
              </a:ext>
            </a:extLst>
          </p:cNvPr>
          <p:cNvSpPr txBox="1">
            <a:spLocks/>
          </p:cNvSpPr>
          <p:nvPr/>
        </p:nvSpPr>
        <p:spPr>
          <a:xfrm>
            <a:off x="2279997" y="3008884"/>
            <a:ext cx="7632003" cy="84023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5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他のサービスとは違う</a:t>
            </a:r>
            <a:endParaRPr lang="en-US" altLang="ja-JP" sz="54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8649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98FF1-CBC5-4A3B-D56C-E128052E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0C53DDF-E39A-ED1E-62A6-F352E8C75373}"/>
              </a:ext>
            </a:extLst>
          </p:cNvPr>
          <p:cNvSpPr txBox="1"/>
          <p:nvPr/>
        </p:nvSpPr>
        <p:spPr>
          <a:xfrm>
            <a:off x="893309" y="3013501"/>
            <a:ext cx="10405382" cy="83099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ja-JP" altLang="en-US" sz="48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教えない、評価しない、推奨しない</a:t>
            </a:r>
          </a:p>
        </p:txBody>
      </p:sp>
    </p:spTree>
    <p:extLst>
      <p:ext uri="{BB962C8B-B14F-4D97-AF65-F5344CB8AC3E}">
        <p14:creationId xmlns:p14="http://schemas.microsoft.com/office/powerpoint/2010/main" val="11790640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610C9-5A4C-4349-229C-8D81DEB4C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8E467E6C-98F5-CCD2-6340-DA20CF0FE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291" y="1271265"/>
            <a:ext cx="7313418" cy="4315469"/>
          </a:xfrm>
          <a:prstGeom prst="rect">
            <a:avLst/>
          </a:prstGeom>
        </p:spPr>
      </p:pic>
      <p:sp>
        <p:nvSpPr>
          <p:cNvPr id="4" name="タイトル 1">
            <a:extLst>
              <a:ext uri="{FF2B5EF4-FFF2-40B4-BE49-F238E27FC236}">
                <a16:creationId xmlns:a16="http://schemas.microsoft.com/office/drawing/2014/main" id="{7E162C5E-D16F-C6C3-604C-8574B6D4DCD6}"/>
              </a:ext>
            </a:extLst>
          </p:cNvPr>
          <p:cNvSpPr txBox="1">
            <a:spLocks/>
          </p:cNvSpPr>
          <p:nvPr/>
        </p:nvSpPr>
        <p:spPr>
          <a:xfrm>
            <a:off x="3568283" y="5285390"/>
            <a:ext cx="5055433" cy="70173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選択肢生成</a:t>
            </a:r>
            <a:endParaRPr lang="en-US" altLang="ja-JP" sz="44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8416ADCF-6087-4EBA-D299-7F1309641808}"/>
              </a:ext>
            </a:extLst>
          </p:cNvPr>
          <p:cNvSpPr txBox="1">
            <a:spLocks/>
          </p:cNvSpPr>
          <p:nvPr/>
        </p:nvSpPr>
        <p:spPr>
          <a:xfrm>
            <a:off x="0" y="6377868"/>
            <a:ext cx="1828800" cy="4247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>
                <a:solidFill>
                  <a:schemeClr val="tx1">
                    <a:lumMod val="50000"/>
                    <a:lumOff val="50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WHYAI</a:t>
            </a:r>
            <a:endParaRPr lang="ja-JP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99569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22676-6F32-6D29-5F83-73F646A60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4850613C-20A3-69C6-D97E-24AEE4C92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959" y="1175096"/>
            <a:ext cx="9814082" cy="4507807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1851BAE7-D4B7-A0BD-77C4-E9C668D9F0D2}"/>
              </a:ext>
            </a:extLst>
          </p:cNvPr>
          <p:cNvSpPr txBox="1">
            <a:spLocks/>
          </p:cNvSpPr>
          <p:nvPr/>
        </p:nvSpPr>
        <p:spPr>
          <a:xfrm>
            <a:off x="3568283" y="5285390"/>
            <a:ext cx="5055433" cy="70173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ドキュメント生成</a:t>
            </a:r>
            <a:endParaRPr lang="en-US" altLang="ja-JP" sz="44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D2CFC2AD-9CC7-98A2-66A7-EB72733A8312}"/>
              </a:ext>
            </a:extLst>
          </p:cNvPr>
          <p:cNvSpPr txBox="1">
            <a:spLocks/>
          </p:cNvSpPr>
          <p:nvPr/>
        </p:nvSpPr>
        <p:spPr>
          <a:xfrm>
            <a:off x="0" y="6377868"/>
            <a:ext cx="1828800" cy="4247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>
                <a:solidFill>
                  <a:schemeClr val="tx1">
                    <a:lumMod val="50000"/>
                    <a:lumOff val="50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WHYAI</a:t>
            </a:r>
            <a:endParaRPr lang="ja-JP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1789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951AF6-58A0-B04D-1E96-EB7A9C210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 descr="バブル チャー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5C0061A-238F-8E2A-4046-7B42634D2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524" y="1430694"/>
            <a:ext cx="5982950" cy="3996611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4BC29085-9D4A-E635-E88A-55247A4A2946}"/>
              </a:ext>
            </a:extLst>
          </p:cNvPr>
          <p:cNvSpPr txBox="1">
            <a:spLocks/>
          </p:cNvSpPr>
          <p:nvPr/>
        </p:nvSpPr>
        <p:spPr>
          <a:xfrm>
            <a:off x="3568283" y="5285390"/>
            <a:ext cx="5055433" cy="70173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400" dirty="0"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ノードマップ生成</a:t>
            </a:r>
            <a:endParaRPr lang="en-US" altLang="ja-JP" sz="4400" dirty="0"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7F380E75-98CE-14B2-E8E8-E811CF80C442}"/>
              </a:ext>
            </a:extLst>
          </p:cNvPr>
          <p:cNvSpPr txBox="1">
            <a:spLocks/>
          </p:cNvSpPr>
          <p:nvPr/>
        </p:nvSpPr>
        <p:spPr>
          <a:xfrm>
            <a:off x="0" y="6377868"/>
            <a:ext cx="1828800" cy="4247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>
                <a:solidFill>
                  <a:schemeClr val="tx1">
                    <a:lumMod val="50000"/>
                    <a:lumOff val="50000"/>
                  </a:schemeClr>
                </a:solidFill>
                <a:latin typeface="源ノ角ゴシック JP Heavy" panose="020B0A00000000000000" pitchFamily="34" charset="-128"/>
                <a:ea typeface="源ノ角ゴシック JP Heavy" panose="020B0A00000000000000" pitchFamily="34" charset="-128"/>
              </a:rPr>
              <a:t>WHYAI</a:t>
            </a:r>
            <a:endParaRPr lang="ja-JP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源ノ角ゴシック JP Heavy" panose="020B0A00000000000000" pitchFamily="34" charset="-128"/>
              <a:ea typeface="源ノ角ゴシック JP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3895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222</Words>
  <Application>Microsoft Office PowerPoint</Application>
  <PresentationFormat>ワイド画面</PresentationFormat>
  <Paragraphs>69</Paragraphs>
  <Slides>28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4" baseType="lpstr">
      <vt:lpstr>源ノ角ゴシック JP Heavy</vt:lpstr>
      <vt:lpstr>源ノ角ゴシック JP Medium</vt:lpstr>
      <vt:lpstr>游ゴシック</vt:lpstr>
      <vt:lpstr>游ゴシック Light</vt:lpstr>
      <vt:lpstr>Arial</vt:lpstr>
      <vt:lpstr>Office テーマ</vt:lpstr>
      <vt:lpstr>WHYAI</vt:lpstr>
      <vt:lpstr>WHYAI</vt:lpstr>
      <vt:lpstr>コンピューターに 「何を、どの順番で行うか」 を指示し、処理を行わせる作業</vt:lpstr>
      <vt:lpstr>コンピューターに 「何を、どの順番で行うか」 を指示し、処理を行わせる作業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WHYAI</vt:lpstr>
      <vt:lpstr>AI時代</vt:lpstr>
      <vt:lpstr>AI時代</vt:lpstr>
      <vt:lpstr>PowerPoint プレゼンテーション</vt:lpstr>
      <vt:lpstr>By Canaries in the Coal Mine? Six Facts about the Recent Employment Effects of Artificial Intelligence</vt:lpstr>
      <vt:lpstr>PowerPoint プレゼンテーション</vt:lpstr>
      <vt:lpstr>若手エンジニアが勉強できなくなる</vt:lpstr>
      <vt:lpstr>学習できる 新しいことを学べる</vt:lpstr>
      <vt:lpstr>WHYAI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石王丸　豊年_富山</dc:creator>
  <cp:lastModifiedBy>石王丸　豊年_富山</cp:lastModifiedBy>
  <cp:revision>10</cp:revision>
  <dcterms:created xsi:type="dcterms:W3CDTF">2026-02-08T00:15:19Z</dcterms:created>
  <dcterms:modified xsi:type="dcterms:W3CDTF">2026-02-08T04:26:57Z</dcterms:modified>
</cp:coreProperties>
</file>